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274320"/>
            <a:ext cx="101600" cy="1016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320" y="312420"/>
            <a:ext cx="381000" cy="25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0" y="274320"/>
            <a:ext cx="101600" cy="1016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57000" y="312420"/>
            <a:ext cx="381000" cy="25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" y="6217920"/>
            <a:ext cx="101600" cy="1016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320" y="6256020"/>
            <a:ext cx="381000" cy="25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0" y="6217920"/>
            <a:ext cx="101600" cy="1016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57000" y="6256020"/>
            <a:ext cx="381000" cy="25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731520"/>
            <a:ext cx="8503920" cy="18288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82296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HACKATHON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15087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A5F5"/>
                </a:solidFill>
                <a:latin typeface="Calibri"/>
              </a:defRPr>
            </a:pPr>
            <a:r>
              <a:t>US Healthcare EDI Parser &amp; X12 File 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926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Project Name:  </a:t>
            </a:r>
            <a:r>
              <a:rPr sz="1600">
                <a:solidFill>
                  <a:srgbClr val="333333"/>
                </a:solidFill>
                <a:latin typeface="Calibri"/>
              </a:rPr>
              <a:t>EDI ClaimGuard — AI-Powered X12 EDI Parser &amp; Validator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429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Problem Statement:  </a:t>
            </a:r>
            <a:r>
              <a:rPr sz="1600">
                <a:solidFill>
                  <a:srgbClr val="333333"/>
                </a:solidFill>
                <a:latin typeface="Calibri"/>
              </a:rPr>
              <a:t>US Healthcare EDI Parser &amp; X12 File Validator (837/835/834)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Domain:  </a:t>
            </a:r>
            <a:r>
              <a:rPr sz="1600">
                <a:solidFill>
                  <a:srgbClr val="333333"/>
                </a:solidFill>
                <a:latin typeface="Calibri"/>
              </a:rPr>
              <a:t>Healthcare IT / FinTech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34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Team Name:  </a:t>
            </a:r>
            <a:r>
              <a:rPr sz="1600">
                <a:solidFill>
                  <a:srgbClr val="333333"/>
                </a:solidFill>
                <a:latin typeface="Calibri"/>
              </a:rPr>
              <a:t>[Your Team Name]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3775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College:  </a:t>
            </a:r>
            <a:r>
              <a:rPr sz="1600">
                <a:solidFill>
                  <a:srgbClr val="333333"/>
                </a:solidFill>
                <a:latin typeface="Calibri"/>
              </a:rPr>
              <a:t>[Your College Name]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44067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City:  </a:t>
            </a:r>
            <a:r>
              <a:rPr sz="1600">
                <a:solidFill>
                  <a:srgbClr val="333333"/>
                </a:solidFill>
                <a:latin typeface="Calibri"/>
              </a:rPr>
              <a:t>[Your City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 — Why This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2 /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55448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1554480"/>
            <a:ext cx="3200400" cy="63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16916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5B+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EDI Transactions</a:t>
            </a:r>
            <a:br/>
            <a:r>
              <a:t>Per Year in US Healthcare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320040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5467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53935"/>
                </a:solidFill>
                <a:latin typeface="Calibri"/>
              </a:defRPr>
            </a:pPr>
            <a:r>
              <a:t>$262B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Annual Claim</a:t>
            </a:r>
            <a:br/>
            <a:r>
              <a:t>Denials (MGMA)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056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320040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C853"/>
                </a:solidFill>
                <a:latin typeface="Calibri"/>
              </a:defRPr>
            </a:pPr>
            <a:r>
              <a:t>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66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Denials Are</a:t>
            </a:r>
            <a:br/>
            <a:r>
              <a:t>Preventable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Calibri"/>
              </a:defRPr>
            </a:pPr>
            <a:r>
              <a:t>The Core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0116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X12 837/835/834 files use cryptic ASCII delimiters — nearly impossible to read manually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 missing ISA segment or invalid ICD-10 code → instant claim rejection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834 enrollment errors leave employees uninsured for weeks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Billing teams lose millions to rework caused by malformed segments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No open-source tool covers all 3 transaction types with AI-assisted fixes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029200"/>
            <a:ext cx="68580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0749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44"/>
                </a:solidFill>
                <a:latin typeface="Calibri"/>
              </a:defRPr>
            </a:pPr>
            <a:r>
              <a:t>Who It Affects: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3949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Calibri"/>
              </a:defRPr>
            </a:pPr>
            <a:r>
              <a:t>Medical billing specialists  •  Benefits/HR administrators  •  Healthcare developers  •  Revenue cycle managers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PROPOSED SOLUTION — EDI ClaimGuard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3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D47A1"/>
                </a:solidFill>
                <a:latin typeface="Calibri"/>
              </a:defRPr>
            </a:pPr>
            <a:r>
              <a:t>A web-based, AI-assisted EDI parser, validator &amp; fix engine for X12 837/835/834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187" y="2103120"/>
            <a:ext cx="1645920" cy="18288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62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2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2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Drag-and-drop</a:t>
            </a:r>
            <a:br/>
            <a:r>
              <a:t>.edi / .txt / .x12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9395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98267" y="2103120"/>
            <a:ext cx="1645920" cy="18288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8970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970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970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Auto-identify</a:t>
            </a:r>
            <a:br/>
            <a:r>
              <a:t>837P/837I/835/834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2475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1347" y="2103120"/>
            <a:ext cx="1645920" cy="1828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278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278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278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Full loop/segment</a:t>
            </a:r>
            <a:br/>
            <a:r>
              <a:t>hierarchy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5555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4427" y="2103120"/>
            <a:ext cx="1645920" cy="18288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586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586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586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HIPAA 5010</a:t>
            </a:r>
            <a:br/>
            <a:r>
              <a:t>rule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8635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7507" y="2103120"/>
            <a:ext cx="1645920" cy="18288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894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894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894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AI plain-English</a:t>
            </a:r>
            <a:br/>
            <a:r>
              <a:t>error descriptions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1715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30587" y="2103120"/>
            <a:ext cx="1645920" cy="18288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2027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2027" y="2697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2027" y="306323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FF"/>
                </a:solidFill>
                <a:latin typeface="Calibri"/>
              </a:defRPr>
            </a:pPr>
            <a:r>
              <a:t>One-click auto-fix</a:t>
            </a:r>
            <a:br/>
            <a:r>
              <a:t>&amp; re-validate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Core Engine Capabilities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AI Chat Assistant: </a:t>
            </a:r>
            <a:r>
              <a:rPr sz="1200">
                <a:solidFill>
                  <a:srgbClr val="333333"/>
                </a:solidFill>
                <a:latin typeface="Calibri"/>
              </a:rPr>
              <a:t>contextual Q&amp;A powered by LLM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835 Remittance Summary: </a:t>
            </a:r>
            <a:r>
              <a:rPr sz="1200">
                <a:solidFill>
                  <a:srgbClr val="333333"/>
                </a:solidFill>
                <a:latin typeface="Calibri"/>
              </a:rPr>
              <a:t>paid/adjusted/denied with CARC/RARC decode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834 Member Dashboard: </a:t>
            </a:r>
            <a:r>
              <a:rPr sz="1200">
                <a:solidFill>
                  <a:srgbClr val="333333"/>
                </a:solidFill>
                <a:latin typeface="Calibri"/>
              </a:rPr>
              <a:t>color-coded add/change/terminate roster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Differentiators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Batch processing: </a:t>
            </a:r>
            <a:r>
              <a:rPr sz="1200">
                <a:solidFill>
                  <a:srgbClr val="333333"/>
                </a:solidFill>
                <a:latin typeface="Calibri"/>
              </a:rPr>
              <a:t>ZIP upload with consolidated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Export: </a:t>
            </a:r>
            <a:r>
              <a:rPr sz="1200">
                <a:solidFill>
                  <a:srgbClr val="333333"/>
                </a:solidFill>
                <a:latin typeface="Calibri"/>
              </a:rPr>
              <a:t>corrected EDI, JSON tree, PDF error report, CSV roster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Real NPI validation: </a:t>
            </a:r>
            <a:r>
              <a:rPr sz="1200">
                <a:solidFill>
                  <a:srgbClr val="333333"/>
                </a:solidFill>
                <a:latin typeface="Calibri"/>
              </a:rPr>
              <a:t>live CMS NPPES Registry API lookup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USP &amp; INNOVATION — What Makes Us Different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4 /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607" y="1463040"/>
            <a:ext cx="3383280" cy="438912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607" y="1463040"/>
            <a:ext cx="3383280" cy="76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047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87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62FF"/>
                </a:solidFill>
                <a:latin typeface="Calibri"/>
              </a:defRPr>
            </a:pPr>
            <a:r>
              <a:t>Predictive Claim Denial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487" y="28346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ML model analyzes historical 835 denial patterns to assign a "denial risk %" to each claim BEFORE submission. Billers can preemptively fix high-risk claims.</a:t>
            </a:r>
            <a:br/>
            <a:br/>
            <a:r>
              <a:t>No existing open-source EDI tool does this.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0927" y="5120640"/>
            <a:ext cx="2834640" cy="45720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647" y="51389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Reduces denials by up to 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4207" y="1463040"/>
            <a:ext cx="3383280" cy="438912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4207" y="1463040"/>
            <a:ext cx="3383280" cy="76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5647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087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88"/>
                </a:solidFill>
                <a:latin typeface="Calibri"/>
              </a:defRPr>
            </a:pPr>
            <a:r>
              <a:t>EDI-to-FHIR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087" y="28346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Auto-convert parsed X12 data to HL7 FHIR R4 JSON — bridging legacy EDI with modern EHR/EMR APIs. Enables interoperability with next-gen health systems.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8527" y="5120640"/>
            <a:ext cx="283464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4247" y="51389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First open-source EDI↔FHIR converter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807" y="1463040"/>
            <a:ext cx="3383280" cy="438912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1807" y="1463040"/>
            <a:ext cx="3383280" cy="76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3247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4687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F00"/>
                </a:solidFill>
                <a:latin typeface="Calibri"/>
              </a:defRPr>
            </a:pPr>
            <a:r>
              <a:t>Smart Auto-Fix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4687" y="28346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just suggestions — deterministic fixes are applied automatically with one click. File re-validates instantly. Reduces fix-validate-resubmit cycles from hours to seconds.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6127" y="5120640"/>
            <a:ext cx="2834640" cy="4572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1847" y="51389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Hours → Seconds turnaround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D47A1"/>
                </a:solidFill>
                <a:latin typeface="Calibri"/>
              </a:defRPr>
            </a:pPr>
            <a:r>
              <a:t>✦ Full 837P/837I/835/834 Parser   ✦ HIPAA 5010 Validator   ✦ AI Chat Assistant   ✦ Batch ZIP Processing   ✦ Export: EDI/JSON/PDF/CSV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APPROACH — How We Built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5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Step-by-Step Process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17830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47A1"/>
                </a:solidFill>
                <a:latin typeface="Calibri"/>
              </a:rPr>
              <a:t>Ingest:  </a:t>
            </a:r>
            <a:r>
              <a:rPr sz="1000">
                <a:solidFill>
                  <a:srgbClr val="333333"/>
                </a:solidFill>
                <a:latin typeface="Calibri"/>
              </a:rPr>
              <a:t>Drag-and-drop file upload → auto-detect ISA/GS/ST envelope → identify transaction type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56032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88E5"/>
                </a:solidFill>
                <a:latin typeface="Calibri"/>
              </a:rPr>
              <a:t>Parse:  </a:t>
            </a:r>
            <a:r>
              <a:rPr sz="1000">
                <a:solidFill>
                  <a:srgbClr val="333333"/>
                </a:solidFill>
                <a:latin typeface="Calibri"/>
              </a:rPr>
              <a:t>Custom Python recursive descent parser builds full loop/segment tree per HIPAA implementation guide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375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Validate:  </a:t>
            </a:r>
            <a:r>
              <a:rPr sz="1000">
                <a:solidFill>
                  <a:srgbClr val="333333"/>
                </a:solidFill>
                <a:latin typeface="Calibri"/>
              </a:rPr>
              <a:t>JSON-based declarative rule engine checks mandatory segments, element formats (NPI Luhn, dates, ZIP), qualifiers, cross-segment consistency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148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C853"/>
                </a:solidFill>
                <a:latin typeface="Calibri"/>
              </a:rPr>
              <a:t>Report:  </a:t>
            </a:r>
            <a:r>
              <a:rPr sz="1000">
                <a:solidFill>
                  <a:srgbClr val="333333"/>
                </a:solidFill>
                <a:latin typeface="Calibri"/>
              </a:rPr>
              <a:t>Structured error list with loop location, segment ID, element position, and plain-English description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937760"/>
            <a:ext cx="365760" cy="36576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920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F00"/>
                </a:solidFill>
                <a:latin typeface="Calibri"/>
              </a:rPr>
              <a:t>Fix:  </a:t>
            </a:r>
            <a:r>
              <a:rPr sz="1000">
                <a:solidFill>
                  <a:srgbClr val="333333"/>
                </a:solidFill>
                <a:latin typeface="Calibri"/>
              </a:rPr>
              <a:t>Auto-suggest corrected values → one-click apply → instant re-validation loop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715000"/>
            <a:ext cx="365760" cy="36576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692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62FF"/>
                </a:solidFill>
                <a:latin typeface="Calibri"/>
              </a:rPr>
              <a:t>AI Chat:  </a:t>
            </a:r>
            <a:r>
              <a:rPr sz="1000">
                <a:solidFill>
                  <a:srgbClr val="333333"/>
                </a:solidFill>
                <a:latin typeface="Calibri"/>
              </a:rPr>
              <a:t>LLM-powered contextual assistant answers follow-up questions about the file with segment-level context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Key Challenges &amp; Solutions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920240"/>
            <a:ext cx="484632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938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  <a:latin typeface="Calibri"/>
              </a:defRPr>
            </a:pPr>
            <a:r>
              <a:t>⚠  Complex X12 loop nesting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304288"/>
            <a:ext cx="48463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3225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✓  Recursive descent parser with loop-detection state machine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834640"/>
            <a:ext cx="484632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8529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  <a:latin typeface="Calibri"/>
              </a:defRPr>
            </a:pPr>
            <a:r>
              <a:t>⚠  1000+ validation rules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218688"/>
            <a:ext cx="48463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2369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✓  Declarative JSON/YAML rule DSL + rule engine pattern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749039"/>
            <a:ext cx="484632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76732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  <a:latin typeface="Calibri"/>
              </a:defRPr>
            </a:pPr>
            <a:r>
              <a:t>⚠  Cryptic error messages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133087"/>
            <a:ext cx="48463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1513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✓  LLM-based error explanation with segment context injection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663440"/>
            <a:ext cx="484632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68172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  <a:latin typeface="Calibri"/>
              </a:defRPr>
            </a:pPr>
            <a:r>
              <a:t>⚠  Multiple transaction types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5047488"/>
            <a:ext cx="48463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0657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✓  Unified parser core with type-specific rule modules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577840"/>
            <a:ext cx="484632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59612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  <a:latin typeface="Calibri"/>
              </a:defRPr>
            </a:pPr>
            <a:r>
              <a:t>⚠  Real-time NPI validation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5961888"/>
            <a:ext cx="48463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980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9688"/>
                </a:solidFill>
                <a:latin typeface="Calibri"/>
              </a:defRPr>
            </a:pPr>
            <a:r>
              <a:t>✓  Async CMS NPPES API integration with local cache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TECHNOLOGIES USED &amp;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6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1874519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8013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Languages:  </a:t>
            </a:r>
            <a:r>
              <a:rPr sz="1200">
                <a:solidFill>
                  <a:srgbClr val="333333"/>
                </a:solidFill>
                <a:latin typeface="Calibri"/>
              </a:rPr>
              <a:t>Python 3.12, TypeScript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2423160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350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Backend API:  </a:t>
            </a:r>
            <a:r>
              <a:rPr sz="1200">
                <a:solidFill>
                  <a:srgbClr val="333333"/>
                </a:solidFill>
                <a:latin typeface="Calibri"/>
              </a:rPr>
              <a:t>FastAPI — upload, parse, validate, chat endpoints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2971800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8986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Frontend:  </a:t>
            </a:r>
            <a:r>
              <a:rPr sz="1200">
                <a:solidFill>
                  <a:srgbClr val="333333"/>
                </a:solidFill>
                <a:latin typeface="Calibri"/>
              </a:rPr>
              <a:t>React + TypeScript + TailwindCSS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3520439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472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AI / LLM:  </a:t>
            </a:r>
            <a:r>
              <a:rPr sz="1200">
                <a:solidFill>
                  <a:srgbClr val="333333"/>
                </a:solidFill>
                <a:latin typeface="Calibri"/>
              </a:rPr>
              <a:t>Google Gemini API — chat &amp; error explanations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069080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9959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ML Model:  </a:t>
            </a:r>
            <a:r>
              <a:rPr sz="1200">
                <a:solidFill>
                  <a:srgbClr val="333333"/>
                </a:solidFill>
                <a:latin typeface="Calibri"/>
              </a:rPr>
              <a:t>scikit-learn — predictive claim denial scoring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617720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5445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Database:  </a:t>
            </a:r>
            <a:r>
              <a:rPr sz="1200">
                <a:solidFill>
                  <a:srgbClr val="333333"/>
                </a:solidFill>
                <a:latin typeface="Calibri"/>
              </a:rPr>
              <a:t>PostgreSQL — rules, historical claims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166359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9320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Deployment:  </a:t>
            </a:r>
            <a:r>
              <a:rPr sz="1200">
                <a:solidFill>
                  <a:srgbClr val="333333"/>
                </a:solidFill>
                <a:latin typeface="Calibri"/>
              </a:rPr>
              <a:t>Docker Compose · Vercel (FE) · Render (BE)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715000"/>
            <a:ext cx="127000" cy="127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641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F44"/>
                </a:solidFill>
                <a:latin typeface="Calibri"/>
              </a:rPr>
              <a:t>Ref. Data:  </a:t>
            </a:r>
            <a:r>
              <a:rPr sz="1200">
                <a:solidFill>
                  <a:srgbClr val="333333"/>
                </a:solidFill>
                <a:latin typeface="Calibri"/>
              </a:rPr>
              <a:t>CMS NPPES NPI API, ICD-10, CPT, CARC/RARC lists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5" name="Picture 3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IMPACT &amp; FEASIBILITY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7 /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5207" y="150876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5207" y="1508760"/>
            <a:ext cx="2286000" cy="63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367" y="16459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↓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367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Reduction in</a:t>
            </a:r>
            <a:br/>
            <a:r>
              <a:t>Claim Rejections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6967" y="150876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26967" y="1508760"/>
            <a:ext cx="228600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4127" y="16459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C853"/>
                </a:solidFill>
                <a:latin typeface="Calibri"/>
              </a:defRPr>
            </a:pPr>
            <a:r>
              <a:t>$15K+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4127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Saved per Provider</a:t>
            </a:r>
            <a:br/>
            <a:r>
              <a:t>Per Year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150876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1508760"/>
            <a:ext cx="22860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16459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688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Validation</a:t>
            </a:r>
            <a:br/>
            <a:r>
              <a:t>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0487" y="150876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0487" y="1508760"/>
            <a:ext cx="2286000" cy="635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7647" y="16459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Faster Than</a:t>
            </a:r>
            <a:br/>
            <a:r>
              <a:t>Manual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Reduces claim rejections — </a:t>
            </a:r>
            <a:r>
              <a:rPr sz="1200">
                <a:solidFill>
                  <a:srgbClr val="333333"/>
                </a:solidFill>
                <a:latin typeface="Calibri"/>
              </a:rPr>
              <a:t>saves millions in rework costs across the healthcare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Prevents enrollment gaps — </a:t>
            </a:r>
            <a:r>
              <a:rPr sz="1200">
                <a:solidFill>
                  <a:srgbClr val="333333"/>
                </a:solidFill>
                <a:latin typeface="Calibri"/>
              </a:rPr>
              <a:t>employees no longer left uninsured due to 834 errors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Empowers non-technical staff — </a:t>
            </a:r>
            <a:r>
              <a:rPr sz="1200">
                <a:solidFill>
                  <a:srgbClr val="333333"/>
                </a:solidFill>
                <a:latin typeface="Calibri"/>
              </a:rPr>
              <a:t>plain-English explanations make EDI accessible to billing coders &amp; HR teams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Open-source — </a:t>
            </a:r>
            <a:r>
              <a:rPr sz="1200">
                <a:solidFill>
                  <a:srgbClr val="333333"/>
                </a:solidFill>
                <a:latin typeface="Calibri"/>
              </a:rPr>
              <a:t>community-driven, no vendor lock-in, freely extensible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Calibri"/>
              </a:defRPr>
            </a:pPr>
            <a:r>
              <a:t>Feasibility &amp; 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Cloud-native: </a:t>
            </a:r>
            <a:r>
              <a:rPr sz="1200">
                <a:solidFill>
                  <a:srgbClr val="333333"/>
                </a:solidFill>
                <a:latin typeface="Calibri"/>
              </a:rPr>
              <a:t>Docker Compose deployment, auto-scales on Render/Vercel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Batch processing: </a:t>
            </a:r>
            <a:r>
              <a:rPr sz="1200">
                <a:solidFill>
                  <a:srgbClr val="333333"/>
                </a:solidFill>
                <a:latin typeface="Calibri"/>
              </a:rPr>
              <a:t>handles thousands of EDI files via ZIP upload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HIPAA compliant: </a:t>
            </a:r>
            <a:r>
              <a:rPr sz="1200">
                <a:solidFill>
                  <a:srgbClr val="333333"/>
                </a:solidFill>
                <a:latin typeface="Calibri"/>
              </a:rPr>
              <a:t>no PHI stored; files processed in-memory only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rPr sz="1200" b="1">
                <a:solidFill>
                  <a:srgbClr val="0A1F44"/>
                </a:solidFill>
                <a:latin typeface="Calibri"/>
              </a:rPr>
              <a:t>• Extensible: JSON/YAML rule DSL — </a:t>
            </a:r>
            <a:r>
              <a:rPr sz="1200">
                <a:solidFill>
                  <a:srgbClr val="333333"/>
                </a:solidFill>
                <a:latin typeface="Calibri"/>
              </a:rPr>
              <a:t>add new rules without code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FUTURE ROADMAP &amp; 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8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A1F44"/>
                </a:solidFill>
                <a:latin typeface="Calibri"/>
              </a:defRPr>
            </a:pPr>
            <a:r>
              <a:t>What's Next — Planned Feature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49527" y="3063240"/>
            <a:ext cx="969264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2327" y="1920240"/>
            <a:ext cx="2011680" cy="21945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767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 —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767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F"/>
                </a:solidFill>
                <a:latin typeface="Calibri"/>
              </a:defRPr>
            </a:pPr>
            <a:r>
              <a:t>Core MVP — Parser, Validator,</a:t>
            </a:r>
            <a:br/>
            <a:r>
              <a:t>AI Chat, Fix Engine</a:t>
            </a:r>
          </a:p>
        </p:txBody>
      </p:sp>
      <p:sp>
        <p:nvSpPr>
          <p:cNvPr id="22" name="Oval 21"/>
          <p:cNvSpPr/>
          <p:nvPr/>
        </p:nvSpPr>
        <p:spPr>
          <a:xfrm>
            <a:off x="1706727" y="2971800"/>
            <a:ext cx="201168" cy="201168"/>
          </a:xfrm>
          <a:prstGeom prst="ellipse">
            <a:avLst/>
          </a:prstGeom>
          <a:solidFill>
            <a:srgbClr val="0D47A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41167" y="1920240"/>
            <a:ext cx="2011680" cy="21945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2607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 — 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2607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F"/>
                </a:solidFill>
                <a:latin typeface="Calibri"/>
              </a:defRPr>
            </a:pPr>
            <a:r>
              <a:t>837↔835 Reconciliation</a:t>
            </a:r>
            <a:br/>
            <a:r>
              <a:t>Match claims to payments</a:t>
            </a:r>
          </a:p>
        </p:txBody>
      </p:sp>
      <p:sp>
        <p:nvSpPr>
          <p:cNvPr id="26" name="Oval 25"/>
          <p:cNvSpPr/>
          <p:nvPr/>
        </p:nvSpPr>
        <p:spPr>
          <a:xfrm>
            <a:off x="3855567" y="2971800"/>
            <a:ext cx="201168" cy="201168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90007" y="1920240"/>
            <a:ext cx="2011680" cy="2194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1447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 — 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447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F"/>
                </a:solidFill>
                <a:latin typeface="Calibri"/>
              </a:defRPr>
            </a:pPr>
            <a:r>
              <a:t>834 Change Delta Report</a:t>
            </a:r>
            <a:br/>
            <a:r>
              <a:t>Month-over-month member diff</a:t>
            </a:r>
          </a:p>
        </p:txBody>
      </p:sp>
      <p:sp>
        <p:nvSpPr>
          <p:cNvPr id="30" name="Oval 29"/>
          <p:cNvSpPr/>
          <p:nvPr/>
        </p:nvSpPr>
        <p:spPr>
          <a:xfrm>
            <a:off x="6004407" y="2971800"/>
            <a:ext cx="201168" cy="201168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38847" y="1920240"/>
            <a:ext cx="2011680" cy="21945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0287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 —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0287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F"/>
                </a:solidFill>
                <a:latin typeface="Calibri"/>
              </a:defRPr>
            </a:pPr>
            <a:r>
              <a:t>Custom Rule Builder UI</a:t>
            </a:r>
            <a:br/>
            <a:r>
              <a:t>No-code validation rules</a:t>
            </a:r>
          </a:p>
        </p:txBody>
      </p:sp>
      <p:sp>
        <p:nvSpPr>
          <p:cNvPr id="34" name="Oval 33"/>
          <p:cNvSpPr/>
          <p:nvPr/>
        </p:nvSpPr>
        <p:spPr>
          <a:xfrm>
            <a:off x="8153247" y="2971800"/>
            <a:ext cx="201168" cy="20116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87687" y="1920240"/>
            <a:ext cx="2011680" cy="21945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9127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5 — Q1+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127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FF"/>
                </a:solidFill>
                <a:latin typeface="Calibri"/>
              </a:defRPr>
            </a:pPr>
            <a:r>
              <a:t>Real-time EDI Stream</a:t>
            </a:r>
            <a:br/>
            <a:r>
              <a:t>Monitoring &amp; Alerting</a:t>
            </a:r>
          </a:p>
        </p:txBody>
      </p:sp>
      <p:sp>
        <p:nvSpPr>
          <p:cNvPr id="38" name="Oval 37"/>
          <p:cNvSpPr/>
          <p:nvPr/>
        </p:nvSpPr>
        <p:spPr>
          <a:xfrm>
            <a:off x="10302087" y="2971800"/>
            <a:ext cx="201168" cy="201168"/>
          </a:xfrm>
          <a:prstGeom prst="ellipse">
            <a:avLst/>
          </a:prstGeom>
          <a:solidFill>
            <a:srgbClr val="FF8F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80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44"/>
                </a:solidFill>
                <a:latin typeface="Calibri"/>
              </a:defRPr>
            </a:pPr>
            <a:r>
              <a:t>Limitations &amp; Honesty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• Predictive denial model accuracy depends on volume of historical 835 data — cold-start addressed via pre-trained baseline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• FHIR conversion covers core resources; edge-case mappings will be extended post-MVP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• Currently supports HIPAA 5010; future versions will add 6020 compliance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5486400"/>
            <a:ext cx="5790895" cy="9144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532120"/>
            <a:ext cx="5425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943600"/>
            <a:ext cx="5425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A5F5"/>
                </a:solidFill>
                <a:latin typeface="Calibri"/>
              </a:defRPr>
            </a:pPr>
            <a:r>
              <a:t>Questions &amp; Live Demo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 &amp; LINKS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9 /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727" y="1463040"/>
            <a:ext cx="5303520" cy="2103120"/>
          </a:xfrm>
          <a:prstGeom prst="roundRect">
            <a:avLst/>
          </a:prstGeom>
          <a:solidFill>
            <a:srgbClr val="F8F9F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3727" y="1463040"/>
            <a:ext cx="5303520" cy="63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887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📚  References &amp;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" y="19659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ASC X12 HIPAA 5010 Implementation Guides (837P, 837I, 835, 834)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CMS HIPAA Eligibility Transaction System (HETS) Documentation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Washington Publishing Company (WPC) — X12 EDI Standard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1463040"/>
            <a:ext cx="5303520" cy="2103120"/>
          </a:xfrm>
          <a:prstGeom prst="roundRect">
            <a:avLst/>
          </a:prstGeom>
          <a:solidFill>
            <a:srgbClr val="F8F9FE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4447" y="1463040"/>
            <a:ext cx="5303520" cy="6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E5"/>
                </a:solidFill>
                <a:latin typeface="Calibri"/>
              </a:defRPr>
            </a:pPr>
            <a:r>
              <a:t>📄  Research 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19659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"AI-Driven Claims Processing in US Healthcare" — Healthcare IT Journal, 2024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"Predictive Models for Claim Denial Prevention" — JAMIA, 2023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"FHIR &amp; Legacy EDI Interoperability" — HL7 International Whitepaper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3727" y="3840479"/>
            <a:ext cx="5303520" cy="2103120"/>
          </a:xfrm>
          <a:prstGeom prst="roundRect">
            <a:avLst/>
          </a:prstGeom>
          <a:solidFill>
            <a:srgbClr val="F8F9FE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3727" y="3840479"/>
            <a:ext cx="530352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887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🤖  Pretrained Models &amp;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887" y="4343399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Google Gemini API — LLM for contextual error explanations &amp; chat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scikit-learn — ML pipeline for predictive claim denial scoring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CMS NPPES NPI Registry API — real-time provider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3840479"/>
            <a:ext cx="5303520" cy="2103120"/>
          </a:xfrm>
          <a:prstGeom prst="roundRect">
            <a:avLst/>
          </a:prstGeom>
          <a:solidFill>
            <a:srgbClr val="F8F9F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4447" y="3840479"/>
            <a:ext cx="530352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📊  Datasets &amp; Code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4343399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CMS ICD-10 Code List (public, updated annually)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AHA CPT / HCPCS Code Reference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WEDI CARC/RARC Adjustment Reason Code Lists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D47A1"/>
                </a:solidFill>
                <a:latin typeface="Calibri"/>
              </a:defRPr>
            </a:pPr>
            <a:r>
              <a:t>🔗 Prototype Link: [Available during live demo]     📁 Documentation: GitHub Repository README.md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440" y="91440"/>
            <a:ext cx="2286000" cy="548640"/>
          </a:xfrm>
          <a:prstGeom prst="parallelogram">
            <a:avLst/>
          </a:prstGeom>
          <a:solidFill>
            <a:srgbClr val="1E88E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48718" y="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295" y="6815023"/>
            <a:ext cx="3200400" cy="76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48718" y="4846320"/>
            <a:ext cx="7620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720840"/>
            <a:ext cx="57908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2700"/>
            <a:ext cx="5790895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TEAM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15568"/>
            <a:ext cx="228600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57575"/>
                </a:solidFill>
              </a:defRPr>
            </a:pPr>
            <a:r>
              <a:t>10 / 10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66647" y="18288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256032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(SY/TY)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BRANCH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COLLEGE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[Member 1]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[YEAR]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[BRANCH]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[EMAIL]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[College]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[Member 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[YEAR]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[BRANCH]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[EMAIL]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[College]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[Member 3]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[YEAR]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[BRANCH]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[EMAIL]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[College]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[Member 4]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[YEAR]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[BRANCH]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[EMAIL]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[College]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66647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Please replace the placeholder values above with your actual team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